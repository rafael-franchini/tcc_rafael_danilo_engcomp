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4" r:id="rId2"/>
  </p:sldMasterIdLst>
  <p:notesMasterIdLst>
    <p:notesMasterId r:id="rId21"/>
  </p:notesMasterIdLst>
  <p:handoutMasterIdLst>
    <p:handoutMasterId r:id="rId22"/>
  </p:handoutMasterIdLst>
  <p:sldIdLst>
    <p:sldId id="256" r:id="rId3"/>
    <p:sldId id="607" r:id="rId4"/>
    <p:sldId id="612" r:id="rId5"/>
    <p:sldId id="617" r:id="rId6"/>
    <p:sldId id="626" r:id="rId7"/>
    <p:sldId id="613" r:id="rId8"/>
    <p:sldId id="614" r:id="rId9"/>
    <p:sldId id="618" r:id="rId10"/>
    <p:sldId id="625" r:id="rId11"/>
    <p:sldId id="622" r:id="rId12"/>
    <p:sldId id="619" r:id="rId13"/>
    <p:sldId id="620" r:id="rId14"/>
    <p:sldId id="627" r:id="rId15"/>
    <p:sldId id="615" r:id="rId16"/>
    <p:sldId id="623" r:id="rId17"/>
    <p:sldId id="616" r:id="rId18"/>
    <p:sldId id="624" r:id="rId19"/>
    <p:sldId id="606" r:id="rId20"/>
  </p:sldIdLst>
  <p:sldSz cx="9144000" cy="6858000" type="screen4x3"/>
  <p:notesSz cx="7023100" cy="93091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21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64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4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AC39-44E6-425E-AF49-CF7D189F346F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0F472-929B-459B-8D82-2FABCC5B32A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F2775BC-6312-42C7-B7C5-EA6783C2D9CA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7F715A1-4ADC-44E0-9587-804FF39D6B2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F715A1-4ADC-44E0-9587-804FF39D6B22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1813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74938-2BA9-4E95-A6A1-FB7DD491B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19D0D-86CF-4788-A8F6-E458D6C99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E63776-7A9C-4246-A6BA-CF4BD0C7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BB5893-2642-4772-A224-B71A3541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EF7E14-3FB8-4308-8FFD-4AE7881A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2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CAF8B-CC15-4F84-B1F4-3AF344B0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84A980-6149-402F-A846-20F268265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B61F42-DDF3-49CB-B442-60724FC8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2BA6A2-8C6C-48A5-B2DC-03ED781D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D4B149-F219-4E7F-9E0A-2B59D592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11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A2A8B-CDD8-41E0-A7BB-ABA3F9E5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E24E8C-4DC6-4876-AAB2-90BD222D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21D3EE-6B9A-49BD-8CFE-88CCE7B4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4C672B-869E-4613-93BF-E0D2B0D6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2A44DF-B6A7-4E9C-B953-88EFBB49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158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E72FD-37D2-4454-8FBA-8FE29682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8D86-B0F8-4625-B576-666DF59CD3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7752D4-5D6F-4C2F-B414-A66FF5943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482335-A109-4B1E-A1EB-98F1ED66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10EA06-9BA2-4C0F-9777-C9B10BBB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DDC7F0-0FE9-4183-B43D-BE47CC17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7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42FB7-6779-4011-97E7-9DD3BC0C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82C1E7-016D-45DD-B01A-A0863C925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C9B473-C036-4E10-9F3D-2017FC9F1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654A70-7D74-4857-8467-4709AAD83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460C4A-964D-46DD-9EBA-67272858D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984A4B-ECC1-4A35-816F-3BC60A29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A81C837-305D-451F-86CE-82A6A357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2399F3-BCEE-463D-8E60-0E029B5B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756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ABF98-23B1-43A1-859A-E4D20223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B5791CA-2FAC-4A83-9ECB-880517BC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E1BA64-D4EC-4856-8AA1-EE8823F5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EA91C2-108E-490E-A506-B368AAB4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203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7A494C0-7E99-4BFB-9CFF-B2C26925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4C9D7DC-B89E-4348-ABFA-419FC6EF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FFB218-0894-4B2E-A3B4-27C33C2B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550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7C08E-7546-46E0-B46B-42AAC63B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A65670-40A2-40DA-8906-98FC841D0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58F7D5-32E2-4CE7-8C15-BDCE97CE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230E42-537F-4402-A937-E54ECD78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A6DC1F-A4C3-4E00-AFE9-CDEB0D80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631DCB-AED5-4E4A-9030-0AB821BF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2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2DA89-3229-4F06-AAD4-EDA5471C5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12C293-1E65-499B-8983-7BCD918F6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93E124-6E5A-4105-B2F2-13DB53473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9CA4D9-624F-4CA2-BC2B-E3E1B3B5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5B5FF6-74B4-49A8-B5A4-0B894E28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585834-6BAA-4FD1-9928-43E7BA13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329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254BD-6A53-492D-A714-222DD254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F6A5ED-4F8B-43AC-BF4F-72ACB9AA5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BFD434-11B1-48D1-BE7E-E2C3F131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D3F1AD-5F16-4130-95A6-DB0F5A0C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D0FB4-B7EA-4300-9F1E-9A296DB4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27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5206E7-534D-40E8-8BAF-3B748B2B7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C4F97E-955C-49F2-BAED-7E3B82C4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368FE7-36D3-4408-AA80-5F2141FC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12E139-42E1-4EC2-AD67-D84F13EAF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90B7CC-0E90-4BF8-AEEB-4BFAC9F4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466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ED57C67-246A-4076-95C9-3422AD47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7B3E61-F1B1-477C-A674-93F3BA10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C57C4C-B1ED-487A-B67A-49E59A777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F0622-75E4-48B8-A617-5428CA5926CE}" type="datetimeFigureOut">
              <a:rPr lang="pt-BR" smtClean="0"/>
              <a:pPr/>
              <a:t>06/10/2026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FB88C3-9279-4A6B-ABC0-00DBDA0B1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F4B7C9-CC7D-409D-A275-AD7CE3305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19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rafael109179@alunos.fho.edu.br" TargetMode="External"/><Relationship Id="rId7" Type="http://schemas.openxmlformats.org/officeDocument/2006/relationships/image" Target="../media/image3.emf"/><Relationship Id="rId2" Type="http://schemas.openxmlformats.org/officeDocument/2006/relationships/hyperlink" Target="mailto:danilomuller10@alunos.fho.edu.br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41DE4512-B35B-46AD-BAA2-19F609104241}"/>
              </a:ext>
            </a:extLst>
          </p:cNvPr>
          <p:cNvSpPr txBox="1">
            <a:spLocks/>
          </p:cNvSpPr>
          <p:nvPr/>
        </p:nvSpPr>
        <p:spPr>
          <a:xfrm>
            <a:off x="324553" y="5933832"/>
            <a:ext cx="7236831" cy="403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Danilo Henrique Muller / Rafael Alexandre Lima Franchini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80F6783-FC5F-44F0-9B64-8E5B4BF98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706" y="621771"/>
            <a:ext cx="4122901" cy="88017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C5987F7-4A56-4466-873A-2A4B3C22A96E}"/>
              </a:ext>
            </a:extLst>
          </p:cNvPr>
          <p:cNvSpPr txBox="1">
            <a:spLocks/>
          </p:cNvSpPr>
          <p:nvPr/>
        </p:nvSpPr>
        <p:spPr>
          <a:xfrm>
            <a:off x="324554" y="6337516"/>
            <a:ext cx="5279362" cy="3713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Orientador: Maurício Acconcia Dias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6E79737-F44F-45A7-83B2-14C3978EB24C}"/>
              </a:ext>
            </a:extLst>
          </p:cNvPr>
          <p:cNvSpPr/>
          <p:nvPr/>
        </p:nvSpPr>
        <p:spPr>
          <a:xfrm>
            <a:off x="1259632" y="2326114"/>
            <a:ext cx="6624736" cy="2088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EMBARCADO DE DETECÇÃO CONTRA INCÊNDIO COM INTEGRAÇÃO A PAINEL ELÉTRICO CCM CLP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78A73E2-4AD1-494F-B74E-EEFB94F2F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607" y="111533"/>
            <a:ext cx="1990763" cy="1900646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7581A12F-E7F1-47F4-8350-87A8F9695497}"/>
              </a:ext>
            </a:extLst>
          </p:cNvPr>
          <p:cNvSpPr/>
          <p:nvPr/>
        </p:nvSpPr>
        <p:spPr>
          <a:xfrm>
            <a:off x="365778" y="5743391"/>
            <a:ext cx="7559814" cy="527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6111849-6CE4-B819-ED3B-D8C4D3A6C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3" y="282847"/>
            <a:ext cx="2624983" cy="108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2123316" y="377464"/>
            <a:ext cx="489736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Sum</a:t>
            </a:r>
            <a:r>
              <a:rPr lang="en-US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ário</a:t>
            </a: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da Apresentação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0D78E5-DA0C-1A45-6A48-38B61417F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B30EFF8-E46A-090F-79EE-A0B48549A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495F51C-984F-FE46-3924-4D52E1DB4C67}"/>
              </a:ext>
            </a:extLst>
          </p:cNvPr>
          <p:cNvSpPr txBox="1"/>
          <p:nvPr/>
        </p:nvSpPr>
        <p:spPr>
          <a:xfrm>
            <a:off x="1249737" y="1285304"/>
            <a:ext cx="756138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• Introdução</a:t>
            </a:r>
          </a:p>
          <a:p>
            <a:br>
              <a:rPr lang="pt-BR" sz="2000" dirty="0"/>
            </a:br>
            <a:r>
              <a:rPr lang="pt-BR" sz="2000" dirty="0"/>
              <a:t>• Problema e Motivação</a:t>
            </a:r>
          </a:p>
          <a:p>
            <a:br>
              <a:rPr lang="pt-BR" sz="2000" dirty="0"/>
            </a:br>
            <a:r>
              <a:rPr lang="pt-BR" sz="2000" dirty="0"/>
              <a:t>• Objetivos</a:t>
            </a:r>
          </a:p>
          <a:p>
            <a:br>
              <a:rPr lang="pt-BR" sz="2000" dirty="0"/>
            </a:br>
            <a:r>
              <a:rPr lang="pt-BR" sz="2000" dirty="0"/>
              <a:t>• Metodologia</a:t>
            </a:r>
          </a:p>
          <a:p>
            <a:endParaRPr lang="pt-BR" sz="2000" dirty="0"/>
          </a:p>
          <a:p>
            <a:r>
              <a:rPr lang="pt-BR" sz="2000" dirty="0"/>
              <a:t>• Protótipo</a:t>
            </a:r>
          </a:p>
          <a:p>
            <a:br>
              <a:rPr lang="pt-BR" sz="2000" dirty="0"/>
            </a:br>
            <a:r>
              <a:rPr lang="pt-BR" sz="2000" dirty="0"/>
              <a:t>• Resultados</a:t>
            </a:r>
          </a:p>
          <a:p>
            <a:endParaRPr lang="pt-BR" sz="2000" dirty="0"/>
          </a:p>
          <a:p>
            <a:r>
              <a:rPr lang="pt-BR" sz="2000" dirty="0"/>
              <a:t>• Conclusão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76288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395235" y="392351"/>
            <a:ext cx="235352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Introdução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F7FDB54-4AEE-5699-0B5D-93CCBE427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63DC68B-9CDC-7ECB-B0E1-61ACBAC58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D1BBD94-73A5-AE29-3F94-49CE09177B43}"/>
              </a:ext>
            </a:extLst>
          </p:cNvPr>
          <p:cNvSpPr txBox="1"/>
          <p:nvPr/>
        </p:nvSpPr>
        <p:spPr>
          <a:xfrm>
            <a:off x="1249737" y="1043597"/>
            <a:ext cx="70162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r>
              <a:rPr lang="pt-BR" b="1" dirty="0"/>
              <a:t>Cenário Atual</a:t>
            </a:r>
            <a:endParaRPr lang="pt-BR" dirty="0"/>
          </a:p>
          <a:p>
            <a:endParaRPr lang="pt-BR" dirty="0"/>
          </a:p>
          <a:p>
            <a:r>
              <a:rPr lang="pt-BR" dirty="0"/>
              <a:t>O aumento de incêndios industriais por falhas elétricas exige soluções de detecção precoce. Com intenção de reduzir os riscos da situação atual. Onde as principais causas são: 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dirty="0"/>
              <a:t>Falhas Elétricas.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dirty="0"/>
              <a:t>Aquecimento.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pt-BR" dirty="0"/>
              <a:t>Gases inflamáveis.</a:t>
            </a:r>
          </a:p>
          <a:p>
            <a:pPr>
              <a:lnSpc>
                <a:spcPct val="200000"/>
              </a:lnSpc>
            </a:pPr>
            <a:r>
              <a:rPr lang="pt-BR" dirty="0"/>
              <a:t>Que são de extrema importância a detecção em estagio inicial.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5198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2110621" y="392351"/>
            <a:ext cx="49227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28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PROBLEMA E MOTIVAÇÃO</a:t>
            </a:r>
            <a:endParaRPr lang="en-US" sz="28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5D66966-2890-F4E5-E076-94F2D06FB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96EB195-873F-1FA4-827D-C3E964129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2A68618-A61E-3056-2CF7-0C74FAA637A0}"/>
              </a:ext>
            </a:extLst>
          </p:cNvPr>
          <p:cNvSpPr txBox="1"/>
          <p:nvPr/>
        </p:nvSpPr>
        <p:spPr>
          <a:xfrm>
            <a:off x="883293" y="1551775"/>
            <a:ext cx="4313575" cy="2750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pt-BR" dirty="0"/>
              <a:t>• Caso real de incêndio em painel elétrico</a:t>
            </a:r>
            <a:br>
              <a:rPr lang="pt-BR" dirty="0"/>
            </a:br>
            <a:r>
              <a:rPr lang="pt-BR" dirty="0"/>
              <a:t>• Substituição inadequada de componentes</a:t>
            </a:r>
            <a:br>
              <a:rPr lang="pt-BR" dirty="0"/>
            </a:br>
            <a:r>
              <a:rPr lang="pt-BR" dirty="0"/>
              <a:t>• Aquecimento e falha no sistema</a:t>
            </a:r>
            <a:br>
              <a:rPr lang="pt-BR" dirty="0"/>
            </a:br>
            <a:r>
              <a:rPr lang="pt-BR" dirty="0"/>
              <a:t>• Necessidade de solução preventiva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75EF05C-341D-382F-6DEA-CDEAFCBCB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240" y="1434246"/>
            <a:ext cx="3590278" cy="47870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1858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2676D-4D95-124A-0BCD-D3CFAE78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E5F74CC-008E-EC0D-F7C0-C093B39A4C21}"/>
              </a:ext>
            </a:extLst>
          </p:cNvPr>
          <p:cNvSpPr/>
          <p:nvPr/>
        </p:nvSpPr>
        <p:spPr>
          <a:xfrm>
            <a:off x="2110621" y="392351"/>
            <a:ext cx="49227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28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PROBLEMA E MOTIVAÇÃO</a:t>
            </a:r>
            <a:endParaRPr lang="en-US" sz="28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3C8016-B1F6-7102-375F-71C773730C92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913361D-970A-6C0A-A72E-56A21D018081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5746B94-59A9-D834-4949-5C5EA1425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EFA4272-4833-B252-8A45-7196307E4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0BB8EFE-EE0B-05DE-0A52-7F3122BD4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91" y="1173932"/>
            <a:ext cx="2903731" cy="515781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E2F7991-22C7-58AB-79FE-5485A693C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3983" y="1108120"/>
            <a:ext cx="2994957" cy="522362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0FF7616-0090-000D-444A-650189D06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801" y="1108120"/>
            <a:ext cx="2671368" cy="522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7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383054" y="392351"/>
            <a:ext cx="237789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OBJETIVOS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BCF67AD-AD6F-05E8-464A-199F337C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84E761A-0CD9-2C0F-5398-42B3F0C27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A480DA7-BF35-5C5E-34E2-9BE5CF91E605}"/>
              </a:ext>
            </a:extLst>
          </p:cNvPr>
          <p:cNvSpPr txBox="1"/>
          <p:nvPr/>
        </p:nvSpPr>
        <p:spPr>
          <a:xfrm>
            <a:off x="1055691" y="1496173"/>
            <a:ext cx="70326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Geral:</a:t>
            </a:r>
            <a:r>
              <a:rPr lang="pt-BR" dirty="0"/>
              <a:t> Desenvolver um sistema embarcado de baixo custo com Arduino Nano para detecção automática e integração industrial.</a:t>
            </a:r>
          </a:p>
          <a:p>
            <a:endParaRPr lang="pt-BR" dirty="0"/>
          </a:p>
          <a:p>
            <a:r>
              <a:rPr lang="pt-BR" b="1" dirty="0"/>
              <a:t>Hardware:</a:t>
            </a:r>
            <a:r>
              <a:rPr lang="pt-BR" dirty="0"/>
              <a:t> Projetar circuito eletrônico com sensores de gás, temperatura e chama.</a:t>
            </a:r>
          </a:p>
          <a:p>
            <a:endParaRPr lang="pt-BR" dirty="0"/>
          </a:p>
          <a:p>
            <a:r>
              <a:rPr lang="pt-BR" b="1" dirty="0"/>
              <a:t>Software:</a:t>
            </a:r>
            <a:r>
              <a:rPr lang="pt-BR" dirty="0"/>
              <a:t> Implementar lógica de redundância para evitar falsos alarmes.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Integração:</a:t>
            </a:r>
            <a:r>
              <a:rPr lang="pt-BR" dirty="0"/>
              <a:t> Feedback de sinais com CLP e sinalização local 24V.</a:t>
            </a:r>
          </a:p>
        </p:txBody>
      </p:sp>
    </p:spTree>
    <p:extLst>
      <p:ext uri="{BB962C8B-B14F-4D97-AF65-F5344CB8AC3E}">
        <p14:creationId xmlns:p14="http://schemas.microsoft.com/office/powerpoint/2010/main" val="237003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2965092" y="392351"/>
            <a:ext cx="321382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DFD3CF2-B45E-0502-5B13-BFD625F2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908359C-11A5-BA9A-A6C7-D26BDECB3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AA7B5C-0D97-71DC-D592-2ED69B7FD372}"/>
              </a:ext>
            </a:extLst>
          </p:cNvPr>
          <p:cNvSpPr txBox="1"/>
          <p:nvPr/>
        </p:nvSpPr>
        <p:spPr>
          <a:xfrm>
            <a:off x="1029461" y="3804614"/>
            <a:ext cx="25275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MQ-2: </a:t>
            </a:r>
            <a:r>
              <a:rPr lang="pt-BR" dirty="0"/>
              <a:t>Detecção de gases inflamáveis (GLP, metano, butano) via variação de resistência semicondutor</a:t>
            </a:r>
            <a:br>
              <a:rPr lang="pt-BR" dirty="0"/>
            </a:br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AC09EAB-28C0-04FB-BBAD-E6BB0D893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22" y="2199830"/>
            <a:ext cx="1077557" cy="1246819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1C8AA3-2E7B-B464-F15A-4828E1BD6A8C}"/>
              </a:ext>
            </a:extLst>
          </p:cNvPr>
          <p:cNvSpPr txBox="1"/>
          <p:nvPr/>
        </p:nvSpPr>
        <p:spPr>
          <a:xfrm>
            <a:off x="3722341" y="3797244"/>
            <a:ext cx="19420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BMP280: </a:t>
            </a:r>
            <a:r>
              <a:rPr lang="pt-BR" dirty="0"/>
              <a:t>Medição de temperatura de alta precisão via protocolo I2C para identificar sobrecargas térmicas.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EBF3544-4B43-7E22-C35B-B85681DD1DE8}"/>
              </a:ext>
            </a:extLst>
          </p:cNvPr>
          <p:cNvSpPr txBox="1"/>
          <p:nvPr/>
        </p:nvSpPr>
        <p:spPr>
          <a:xfrm>
            <a:off x="5969853" y="3797244"/>
            <a:ext cx="22069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IR Flame: </a:t>
            </a:r>
            <a:r>
              <a:rPr lang="pt-BR" dirty="0"/>
              <a:t>Sensor infravermelho de resposta instantânea para detecção direta de princípios de incêndio.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8B895CC-0FDC-78B3-C2A9-56789A0C3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060" y="2042986"/>
            <a:ext cx="1727541" cy="157367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27CEE20-4D2B-40B7-2297-5481CE806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853" y="1859050"/>
            <a:ext cx="1748081" cy="1757607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5BACE1C3-D09B-C500-D44B-83B30A5C6228}"/>
              </a:ext>
            </a:extLst>
          </p:cNvPr>
          <p:cNvSpPr txBox="1"/>
          <p:nvPr/>
        </p:nvSpPr>
        <p:spPr>
          <a:xfrm>
            <a:off x="2329570" y="1173932"/>
            <a:ext cx="4484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SENSORES</a:t>
            </a:r>
            <a:r>
              <a:rPr lang="pt-BR" sz="2000" b="1" i="0" u="none" strike="noStrike" dirty="0">
                <a:solidFill>
                  <a:srgbClr val="001F3F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pt-BR" sz="2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 MONITORAMENTO</a:t>
            </a:r>
          </a:p>
        </p:txBody>
      </p:sp>
    </p:spTree>
    <p:extLst>
      <p:ext uri="{BB962C8B-B14F-4D97-AF65-F5344CB8AC3E}">
        <p14:creationId xmlns:p14="http://schemas.microsoft.com/office/powerpoint/2010/main" val="210534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787B0-3328-0968-5A08-CEB3AB80C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BCF156B-9AC9-C7F4-1B6E-0336DB7A7D03}"/>
              </a:ext>
            </a:extLst>
          </p:cNvPr>
          <p:cNvSpPr/>
          <p:nvPr/>
        </p:nvSpPr>
        <p:spPr>
          <a:xfrm>
            <a:off x="2965092" y="392351"/>
            <a:ext cx="321382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679E128-052C-AE8A-1059-DFEF1B45F64D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446836F-12C2-230A-B89D-356ECEEE4A01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394388-AF6E-36FD-03F8-49ED2C380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484B483-CE14-239F-3A5C-AB530F98A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E8342EB-2981-8647-F1E9-9DF05C8C4E8E}"/>
              </a:ext>
            </a:extLst>
          </p:cNvPr>
          <p:cNvSpPr txBox="1"/>
          <p:nvPr/>
        </p:nvSpPr>
        <p:spPr>
          <a:xfrm>
            <a:off x="1063692" y="1582340"/>
            <a:ext cx="70166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FUNCIONAMENTO:</a:t>
            </a:r>
          </a:p>
          <a:p>
            <a:endParaRPr lang="pt-BR" b="1" dirty="0"/>
          </a:p>
          <a:p>
            <a:r>
              <a:rPr lang="pt-BR" dirty="0"/>
              <a:t>• Leitura contínua dos sensores</a:t>
            </a:r>
            <a:br>
              <a:rPr lang="pt-BR" dirty="0"/>
            </a:br>
            <a:r>
              <a:rPr lang="pt-BR" dirty="0"/>
              <a:t>• Comparação com limites definidos</a:t>
            </a:r>
            <a:br>
              <a:rPr lang="pt-BR" dirty="0"/>
            </a:br>
            <a:r>
              <a:rPr lang="pt-BR" dirty="0"/>
              <a:t>• Lógica de decisão: mínimo 2 sensores ativos</a:t>
            </a:r>
            <a:br>
              <a:rPr lang="pt-BR" dirty="0"/>
            </a:br>
            <a:r>
              <a:rPr lang="pt-BR" dirty="0"/>
              <a:t>• Acionamento automático do sistema</a:t>
            </a:r>
          </a:p>
          <a:p>
            <a:endParaRPr lang="pt-BR" b="1" dirty="0"/>
          </a:p>
          <a:p>
            <a:r>
              <a:rPr lang="pt-BR" dirty="0"/>
              <a:t>O sistema utiliza o microcontrolador ATmega328 (Arduino Nano) como núcleo de processamento. A alimentação de 24VDC industrial é convertida para 5V para os componentes lógicos.</a:t>
            </a:r>
          </a:p>
          <a:p>
            <a:endParaRPr lang="pt-BR" dirty="0"/>
          </a:p>
          <a:p>
            <a:r>
              <a:rPr lang="pt-BR" b="1" dirty="0"/>
              <a:t>Saídas:</a:t>
            </a:r>
            <a:endParaRPr lang="pt-BR" dirty="0"/>
          </a:p>
          <a:p>
            <a:r>
              <a:rPr lang="pt-BR" dirty="0"/>
              <a:t>Relé 1: Sinal para o CLP (Lógica de segurança).</a:t>
            </a:r>
          </a:p>
          <a:p>
            <a:r>
              <a:rPr lang="pt-BR" dirty="0"/>
              <a:t>Relé 2: Alarme sonoro e visual local.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C9FC5B-7CDA-FC4F-AFBF-0B7050F51EF6}"/>
              </a:ext>
            </a:extLst>
          </p:cNvPr>
          <p:cNvSpPr txBox="1"/>
          <p:nvPr/>
        </p:nvSpPr>
        <p:spPr>
          <a:xfrm>
            <a:off x="2288137" y="3250743"/>
            <a:ext cx="457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555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D6B2-5496-FA77-486C-2BA928A7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586309E-EAA1-B506-AF36-67A5B0537934}"/>
              </a:ext>
            </a:extLst>
          </p:cNvPr>
          <p:cNvSpPr/>
          <p:nvPr/>
        </p:nvSpPr>
        <p:spPr>
          <a:xfrm>
            <a:off x="2965092" y="392351"/>
            <a:ext cx="321382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2CD4A18-8533-5395-4708-D1AA0DAECD0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2D61B14-5EDA-819D-A551-29C15857A003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4B1A493-5323-3C28-4013-0958016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CC8FF6A-1EFC-F4ED-76DB-55DC0D158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F72736-0B24-4EBD-9848-0791C7638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117" y="1244777"/>
            <a:ext cx="7672890" cy="476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62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1BAC-E8A2-F1B3-2AB4-B8D123978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A77AFCD-26F7-4717-6CC1-F6BB2CE50CB2}"/>
              </a:ext>
            </a:extLst>
          </p:cNvPr>
          <p:cNvSpPr/>
          <p:nvPr/>
        </p:nvSpPr>
        <p:spPr>
          <a:xfrm>
            <a:off x="3324710" y="392351"/>
            <a:ext cx="249459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PROTÓTIPO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79EAA3C-01BA-2D79-7438-ABCF6A6C05A2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2D09023-C4BA-0AFF-FA10-AC8D3385FD4F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7F32D08-5A35-73FD-54BA-DCE206F7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559E184-ECF8-357C-8BD3-35F30C84A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61A727E-A75F-1F5C-FFB9-9B8D9A7CBE18}"/>
              </a:ext>
            </a:extLst>
          </p:cNvPr>
          <p:cNvSpPr txBox="1"/>
          <p:nvPr/>
        </p:nvSpPr>
        <p:spPr>
          <a:xfrm>
            <a:off x="1249737" y="1210329"/>
            <a:ext cx="71557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Montagem e Interface</a:t>
            </a:r>
          </a:p>
          <a:p>
            <a:endParaRPr lang="pt-BR" dirty="0"/>
          </a:p>
          <a:p>
            <a:r>
              <a:rPr lang="pt-BR" dirty="0"/>
              <a:t>O sistema foi montado em uma caixa termoplástica de sobrepor, contendo identificação clara dos sensores e dispositivos de sinalização visual (LED vermelho) e sonora integrados à tampa.</a:t>
            </a:r>
          </a:p>
          <a:p>
            <a:endParaRPr lang="pt-BR" dirty="0"/>
          </a:p>
          <a:p>
            <a:r>
              <a:rPr lang="pt-BR" dirty="0"/>
              <a:t>A arquitetura compacta permite a instalação direta em placas de montagem de painéis elétricos industriais.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280158-16A9-6D59-C9D9-8F1E08376C05}"/>
              </a:ext>
            </a:extLst>
          </p:cNvPr>
          <p:cNvSpPr txBox="1"/>
          <p:nvPr/>
        </p:nvSpPr>
        <p:spPr>
          <a:xfrm>
            <a:off x="2288137" y="3250743"/>
            <a:ext cx="457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85362F2-E79F-D162-5C1E-475AC05720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68" t="21669" r="10135" b="2826"/>
          <a:stretch>
            <a:fillRect/>
          </a:stretch>
        </p:blipFill>
        <p:spPr>
          <a:xfrm rot="5400000">
            <a:off x="3275079" y="2591387"/>
            <a:ext cx="2887320" cy="48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27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6B06-71B8-0EF1-6C6C-7AEEEF7C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DB10A44-D177-DBA9-B672-90E360F82170}"/>
              </a:ext>
            </a:extLst>
          </p:cNvPr>
          <p:cNvSpPr/>
          <p:nvPr/>
        </p:nvSpPr>
        <p:spPr>
          <a:xfrm>
            <a:off x="3209166" y="392351"/>
            <a:ext cx="272568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4545D-F00D-881C-8F3D-1B08A921415F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9B16D14-94FD-53E2-8990-568BA73B9769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A96CBF7-5693-E37A-2691-297935F7F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9B07409-8B57-39FC-FB70-51DE3376B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8344A39-3B30-CF88-44FF-C0B967917B8D}"/>
              </a:ext>
            </a:extLst>
          </p:cNvPr>
          <p:cNvSpPr txBox="1"/>
          <p:nvPr/>
        </p:nvSpPr>
        <p:spPr>
          <a:xfrm>
            <a:off x="1249737" y="1441937"/>
            <a:ext cx="715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DESEMPENHO E VELOCIDADE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89CB92-B35A-3B7C-B709-E95355348580}"/>
              </a:ext>
            </a:extLst>
          </p:cNvPr>
          <p:cNvSpPr txBox="1"/>
          <p:nvPr/>
        </p:nvSpPr>
        <p:spPr>
          <a:xfrm>
            <a:off x="3829174" y="2891928"/>
            <a:ext cx="45762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Eficiência em Tempo Real</a:t>
            </a:r>
            <a:br>
              <a:rPr lang="pt-BR" b="0" dirty="0">
                <a:effectLst/>
              </a:rPr>
            </a:br>
            <a:endParaRPr lang="pt-BR" b="0" dirty="0">
              <a:effectLst/>
            </a:endParaRPr>
          </a:p>
          <a:p>
            <a:pPr rtl="0">
              <a:buNone/>
            </a:pPr>
            <a:r>
              <a:rPr lang="pt-BR" dirty="0"/>
              <a:t>O sistema processa as leituras e aciona as saídas de segurança em menos de dois segundos, garantindo a mitigação de danos antes da propagação do fogo em painéis CCM.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1D514D7-4D24-25DF-7F5F-4F5407D8BEED}"/>
              </a:ext>
            </a:extLst>
          </p:cNvPr>
          <p:cNvSpPr txBox="1"/>
          <p:nvPr/>
        </p:nvSpPr>
        <p:spPr>
          <a:xfrm>
            <a:off x="738554" y="2700023"/>
            <a:ext cx="3026322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sz="11600" b="1" i="0" u="none" strike="noStrike" dirty="0">
                <a:solidFill>
                  <a:srgbClr val="001F3F"/>
                </a:solidFill>
                <a:effectLst/>
                <a:latin typeface="Poppins" panose="00000500000000000000" pitchFamily="2" charset="0"/>
              </a:rPr>
              <a:t>&lt;2s</a:t>
            </a:r>
            <a:endParaRPr lang="pt-BR" b="0" dirty="0">
              <a:effectLst/>
            </a:endParaRPr>
          </a:p>
          <a:p>
            <a:pPr rtl="0">
              <a:buNone/>
            </a:pPr>
            <a:r>
              <a:rPr lang="pt-BR" sz="1800" b="1" i="0" u="none" strike="noStrike" dirty="0">
                <a:solidFill>
                  <a:srgbClr val="FFBF00"/>
                </a:solidFill>
                <a:effectLst/>
                <a:latin typeface="Lato" panose="020F0502020204030203" pitchFamily="34" charset="0"/>
              </a:rPr>
              <a:t>Tempo de Resposta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196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2F24-C298-9467-DCC6-32DAF1A6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2D78EA6-D73A-3AAA-84E9-DDB3807FF9DB}"/>
              </a:ext>
            </a:extLst>
          </p:cNvPr>
          <p:cNvSpPr/>
          <p:nvPr/>
        </p:nvSpPr>
        <p:spPr>
          <a:xfrm>
            <a:off x="3209166" y="392351"/>
            <a:ext cx="272568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9CB774-9AE3-7C8E-21EC-5B5054293018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372466B-D25A-BF69-0092-4EF3AD65FFB2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3D690A-3E86-1369-4C3B-4904647D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E924010-AF83-6064-5CB6-72F2A1C1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94BEB1F-4047-B482-28BA-055198820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93159"/>
              </p:ext>
            </p:extLst>
          </p:nvPr>
        </p:nvGraphicFramePr>
        <p:xfrm>
          <a:off x="472421" y="2227763"/>
          <a:ext cx="8199156" cy="3141805"/>
        </p:xfrm>
        <a:graphic>
          <a:graphicData uri="http://schemas.openxmlformats.org/drawingml/2006/table">
            <a:tbl>
              <a:tblPr/>
              <a:tblGrid>
                <a:gridCol w="2339587">
                  <a:extLst>
                    <a:ext uri="{9D8B030D-6E8A-4147-A177-3AD203B41FA5}">
                      <a16:colId xmlns:a16="http://schemas.microsoft.com/office/drawing/2014/main" val="4260097600"/>
                    </a:ext>
                  </a:extLst>
                </a:gridCol>
                <a:gridCol w="2092198">
                  <a:extLst>
                    <a:ext uri="{9D8B030D-6E8A-4147-A177-3AD203B41FA5}">
                      <a16:colId xmlns:a16="http://schemas.microsoft.com/office/drawing/2014/main" val="2024283699"/>
                    </a:ext>
                  </a:extLst>
                </a:gridCol>
                <a:gridCol w="1866014">
                  <a:extLst>
                    <a:ext uri="{9D8B030D-6E8A-4147-A177-3AD203B41FA5}">
                      <a16:colId xmlns:a16="http://schemas.microsoft.com/office/drawing/2014/main" val="3876000842"/>
                    </a:ext>
                  </a:extLst>
                </a:gridCol>
                <a:gridCol w="1901357">
                  <a:extLst>
                    <a:ext uri="{9D8B030D-6E8A-4147-A177-3AD203B41FA5}">
                      <a16:colId xmlns:a16="http://schemas.microsoft.com/office/drawing/2014/main" val="467799518"/>
                    </a:ext>
                  </a:extLst>
                </a:gridCol>
              </a:tblGrid>
              <a:tr h="6283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Cenário Simulado</a:t>
                      </a:r>
                      <a:endParaRPr lang="pt-BR" sz="1800" b="1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Sensores Ativados</a:t>
                      </a:r>
                      <a:endParaRPr lang="pt-BR" sz="1800" b="1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Detecção Final</a:t>
                      </a:r>
                      <a:endParaRPr lang="pt-BR" sz="1800" b="1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Tempo Resposta</a:t>
                      </a:r>
                      <a:endParaRPr lang="pt-BR" sz="1800" b="1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21270"/>
                  </a:ext>
                </a:extLst>
              </a:tr>
              <a:tr h="6283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Chama Isolada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IR Fogo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Não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---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781874"/>
                  </a:ext>
                </a:extLst>
              </a:tr>
              <a:tr h="6283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Gás + Temperatura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MQ-2 + BMP280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Sim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~1.8 s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91861"/>
                  </a:ext>
                </a:extLst>
              </a:tr>
              <a:tr h="6283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Gás + Chama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MQ-2 + IR Fogo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Sim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~1.5 s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28360"/>
                  </a:ext>
                </a:extLst>
              </a:tr>
              <a:tr h="6283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Chama + Temperatura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IR + BMP280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Sim</a:t>
                      </a:r>
                      <a:endParaRPr lang="pt-BR" sz="160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~1.2 s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39826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7BCB249F-CD23-CBFD-769F-68D1D529E6B2}"/>
              </a:ext>
            </a:extLst>
          </p:cNvPr>
          <p:cNvSpPr txBox="1"/>
          <p:nvPr/>
        </p:nvSpPr>
        <p:spPr>
          <a:xfrm>
            <a:off x="2209800" y="1306885"/>
            <a:ext cx="4724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Tempo de resposta do sistema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018376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9C970-463E-C901-2204-A75F4908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C6D24B9-E1EC-9CFA-DE36-955578B43B59}"/>
              </a:ext>
            </a:extLst>
          </p:cNvPr>
          <p:cNvSpPr/>
          <p:nvPr/>
        </p:nvSpPr>
        <p:spPr>
          <a:xfrm>
            <a:off x="3209166" y="392351"/>
            <a:ext cx="272568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2F21D59-1BCB-059A-4646-03BE4D9D2CE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4309104-24B1-3539-9728-5DA8848A3277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81AF71-4305-B9D2-4E1D-61D7FA3B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9F0E95B-73EE-C228-3241-962F8B67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7AF1460-B685-D923-EA09-10346C4DF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88620"/>
              </p:ext>
            </p:extLst>
          </p:nvPr>
        </p:nvGraphicFramePr>
        <p:xfrm>
          <a:off x="3841470" y="1173932"/>
          <a:ext cx="4840379" cy="5260880"/>
        </p:xfrm>
        <a:graphic>
          <a:graphicData uri="http://schemas.openxmlformats.org/drawingml/2006/table">
            <a:tbl>
              <a:tblPr/>
              <a:tblGrid>
                <a:gridCol w="2555288">
                  <a:extLst>
                    <a:ext uri="{9D8B030D-6E8A-4147-A177-3AD203B41FA5}">
                      <a16:colId xmlns:a16="http://schemas.microsoft.com/office/drawing/2014/main" val="4260097600"/>
                    </a:ext>
                  </a:extLst>
                </a:gridCol>
                <a:gridCol w="2285091">
                  <a:extLst>
                    <a:ext uri="{9D8B030D-6E8A-4147-A177-3AD203B41FA5}">
                      <a16:colId xmlns:a16="http://schemas.microsoft.com/office/drawing/2014/main" val="2024283699"/>
                    </a:ext>
                  </a:extLst>
                </a:gridCol>
              </a:tblGrid>
              <a:tr h="6576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Item</a:t>
                      </a:r>
                      <a:endParaRPr lang="pt-BR" sz="1600" dirty="0">
                        <a:effectLst/>
                      </a:endParaRP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Custo (R$)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21270"/>
                  </a:ext>
                </a:extLst>
              </a:tr>
              <a:tr h="657610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Sensores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760982"/>
                  </a:ext>
                </a:extLst>
              </a:tr>
              <a:tr h="657610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Arduino Nano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487216"/>
                  </a:ext>
                </a:extLst>
              </a:tr>
              <a:tr h="657610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Relé + Conversor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567160"/>
                  </a:ext>
                </a:extLst>
              </a:tr>
              <a:tr h="657610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Alarme sonoro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15,00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781874"/>
                  </a:ext>
                </a:extLst>
              </a:tr>
              <a:tr h="657610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Fonte 24 V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15,00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91861"/>
                  </a:ext>
                </a:extLst>
              </a:tr>
              <a:tr h="657610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Estrutura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28360"/>
                  </a:ext>
                </a:extLst>
              </a:tr>
              <a:tr h="657610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175,00</a:t>
                      </a:r>
                    </a:p>
                  </a:txBody>
                  <a:tcPr marL="47592" marR="47592" marT="20397" marB="2039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839826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479D936F-B2D6-3972-4986-9BB14E4FED7A}"/>
              </a:ext>
            </a:extLst>
          </p:cNvPr>
          <p:cNvSpPr txBox="1"/>
          <p:nvPr/>
        </p:nvSpPr>
        <p:spPr>
          <a:xfrm>
            <a:off x="1183292" y="1496173"/>
            <a:ext cx="22941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Custo:</a:t>
            </a:r>
          </a:p>
          <a:p>
            <a:endParaRPr lang="pt-BR" dirty="0"/>
          </a:p>
          <a:p>
            <a:r>
              <a:rPr lang="pt-BR" dirty="0"/>
              <a:t>O sistema apresenta custo aproximado de R$ 175, sendo significativamente inferior a soluções industriais comerciais.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3046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468181" y="392351"/>
            <a:ext cx="22076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2BEB2E0-59AE-DB13-F6DE-54FDB64E1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C7ED608-6109-6389-2460-8DCE8DE02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11B2EA8-705E-2A76-FE53-EAD279CD6289}"/>
              </a:ext>
            </a:extLst>
          </p:cNvPr>
          <p:cNvSpPr txBox="1"/>
          <p:nvPr/>
        </p:nvSpPr>
        <p:spPr>
          <a:xfrm>
            <a:off x="1249737" y="1547446"/>
            <a:ext cx="69446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• Sistema apresentou funcionamento estável e alta confiabilidade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Capaz de detectar múltiplas variáveis associadas a incêndios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Lógica de redundância reduziu significativamente falsos alarmes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Solução de baixo custo com potencial de aplicação em ambientes industriais e residenciais</a:t>
            </a:r>
          </a:p>
        </p:txBody>
      </p:sp>
    </p:spTree>
    <p:extLst>
      <p:ext uri="{BB962C8B-B14F-4D97-AF65-F5344CB8AC3E}">
        <p14:creationId xmlns:p14="http://schemas.microsoft.com/office/powerpoint/2010/main" val="1773983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D28E-2500-B566-BA4B-AF4BDBBB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80E6635-9776-3D53-BDE6-A3570DA0112B}"/>
              </a:ext>
            </a:extLst>
          </p:cNvPr>
          <p:cNvSpPr/>
          <p:nvPr/>
        </p:nvSpPr>
        <p:spPr>
          <a:xfrm>
            <a:off x="3468181" y="392351"/>
            <a:ext cx="22076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FA0FA8-F8FF-D0C2-3CCC-8F0B93102994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E1DBC5-C601-89D0-A592-C018A058E7F1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9C8FCAF-A684-3747-DAF4-85281DCB0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6D421BC-29B7-551B-E4A6-141928D52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6353CB6-FF6B-201E-F1FC-06B2436CA57B}"/>
              </a:ext>
            </a:extLst>
          </p:cNvPr>
          <p:cNvSpPr txBox="1"/>
          <p:nvPr/>
        </p:nvSpPr>
        <p:spPr>
          <a:xfrm>
            <a:off x="1249737" y="1547446"/>
            <a:ext cx="69446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TRABALHOS FUTUROS</a:t>
            </a:r>
          </a:p>
          <a:p>
            <a:endParaRPr lang="pt-BR" dirty="0"/>
          </a:p>
          <a:p>
            <a:r>
              <a:rPr lang="pt-BR" dirty="0"/>
              <a:t>• Integração com sistemas IoT para monitoramento remoto em tempo real</a:t>
            </a:r>
          </a:p>
          <a:p>
            <a:endParaRPr lang="pt-BR" dirty="0"/>
          </a:p>
          <a:p>
            <a:r>
              <a:rPr lang="pt-BR" dirty="0"/>
              <a:t>• Utilização de sensores industriais de maior precisão e robustez</a:t>
            </a:r>
          </a:p>
          <a:p>
            <a:endParaRPr lang="pt-BR" dirty="0"/>
          </a:p>
          <a:p>
            <a:r>
              <a:rPr lang="pt-BR" dirty="0"/>
              <a:t>• Implementação de algoritmos mais avançados para análise e tomada de decisão</a:t>
            </a:r>
          </a:p>
          <a:p>
            <a:endParaRPr lang="pt-BR" dirty="0"/>
          </a:p>
          <a:p>
            <a:r>
              <a:rPr lang="pt-BR" dirty="0"/>
              <a:t>• Expansão do sistema para integração com redes industriais e supervisórios</a:t>
            </a:r>
          </a:p>
        </p:txBody>
      </p:sp>
    </p:spTree>
    <p:extLst>
      <p:ext uri="{BB962C8B-B14F-4D97-AF65-F5344CB8AC3E}">
        <p14:creationId xmlns:p14="http://schemas.microsoft.com/office/powerpoint/2010/main" val="3868552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102697" y="392351"/>
            <a:ext cx="29386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REFERÊNCIAS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AEE667-4D75-4C3A-AE47-B386E21A980F}"/>
              </a:ext>
            </a:extLst>
          </p:cNvPr>
          <p:cNvSpPr/>
          <p:nvPr/>
        </p:nvSpPr>
        <p:spPr>
          <a:xfrm>
            <a:off x="1249737" y="1496155"/>
            <a:ext cx="734008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ARDUINO. </a:t>
            </a:r>
            <a:r>
              <a:rPr lang="pt-BR" b="1" dirty="0"/>
              <a:t>Arduino Nano </a:t>
            </a:r>
            <a:r>
              <a:rPr lang="pt-BR" b="1" dirty="0" err="1"/>
              <a:t>Documentation</a:t>
            </a:r>
            <a:r>
              <a:rPr lang="pt-BR" dirty="0"/>
              <a:t>. Disponível em: https://docs.arduino.cc/hardware/nano. Acesso em: junho 2026.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ASSOCIAÇÃO BRASILEIRA DE NORMAS TÉCNICAS. NBR 17240: </a:t>
            </a:r>
            <a:r>
              <a:rPr lang="pt-BR" b="1" dirty="0"/>
              <a:t>Sistemas de detecção e alarme de incêndio </a:t>
            </a:r>
            <a:r>
              <a:rPr lang="pt-BR" dirty="0"/>
              <a:t>– Projeto, instalação, comissionamento e manutenção de sistemas de detecção e alarme de incêndio – Requisitos. Rio de Janeiro: ABNT, 2010.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ASSOCIAÇÃO BRASILEIRA DE NORMAS TÉCNICAS. NBR 5410: </a:t>
            </a:r>
            <a:r>
              <a:rPr lang="pt-BR" b="1" dirty="0"/>
              <a:t>Instalações elétricas de baixa tensão</a:t>
            </a:r>
            <a:r>
              <a:rPr lang="pt-BR" dirty="0"/>
              <a:t>. Rio de Janeiro: ABNT, 2004.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BOSCH </a:t>
            </a:r>
            <a:r>
              <a:rPr lang="pt-BR" dirty="0" err="1"/>
              <a:t>SENSORTec</a:t>
            </a:r>
            <a:r>
              <a:rPr lang="pt-BR" dirty="0"/>
              <a:t>. BMP280 </a:t>
            </a:r>
            <a:r>
              <a:rPr lang="pt-BR" b="1" dirty="0"/>
              <a:t>Digital </a:t>
            </a:r>
            <a:r>
              <a:rPr lang="pt-BR" b="1" dirty="0" err="1"/>
              <a:t>Pressure</a:t>
            </a:r>
            <a:r>
              <a:rPr lang="pt-BR" b="1" dirty="0"/>
              <a:t> Sensor – Datasheet. Disponível</a:t>
            </a:r>
            <a:r>
              <a:rPr lang="pt-BR" dirty="0"/>
              <a:t> em: https://www.bosch-sensortec.com/media/</a:t>
            </a:r>
            <a:r>
              <a:rPr lang="pt-BR" dirty="0" err="1"/>
              <a:t>boschsensortec</a:t>
            </a:r>
            <a:r>
              <a:rPr lang="pt-BR" dirty="0"/>
              <a:t>/downloads/datasheets/bst-bmp280-ds001.pdf. Acesso em: junho 2026. </a:t>
            </a:r>
          </a:p>
          <a:p>
            <a:r>
              <a:rPr lang="pt-BR" dirty="0"/>
              <a:t> 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BCFC00D-94B1-FE7A-C986-E627E8E38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CF8E93E-41E4-BC15-4DEA-0E154DE5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9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6E45-5FDA-D3A4-2449-E8D78BA1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EFA61C1-AF03-F760-4C89-CE42EDF72B0B}"/>
              </a:ext>
            </a:extLst>
          </p:cNvPr>
          <p:cNvSpPr/>
          <p:nvPr/>
        </p:nvSpPr>
        <p:spPr>
          <a:xfrm>
            <a:off x="3102697" y="392351"/>
            <a:ext cx="29386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REFERÊNCIAS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A44729C-D7FB-8ECF-0C7E-BE9ABC104A2A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889040F-D6FF-8C35-9366-A6AA08322661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BCC6E4D-B537-358E-5FC8-48C3EC7D50ED}"/>
              </a:ext>
            </a:extLst>
          </p:cNvPr>
          <p:cNvSpPr/>
          <p:nvPr/>
        </p:nvSpPr>
        <p:spPr>
          <a:xfrm>
            <a:off x="1249736" y="1436296"/>
            <a:ext cx="720153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BRASIL. Ministério do Trabalho e Emprego. NR-10: </a:t>
            </a:r>
            <a:r>
              <a:rPr lang="pt-BR" b="1" dirty="0"/>
              <a:t>Segurança em Instalações e Serviços em Eletricidade.</a:t>
            </a:r>
            <a:r>
              <a:rPr lang="pt-BR" dirty="0"/>
              <a:t> Disponível em: &lt;https://www.gov.br/trabalho-e-emprego/</a:t>
            </a:r>
            <a:r>
              <a:rPr lang="pt-BR" dirty="0" err="1"/>
              <a:t>pt-br</a:t>
            </a:r>
            <a:r>
              <a:rPr lang="pt-BR" dirty="0"/>
              <a:t>/acesso-a-</a:t>
            </a:r>
            <a:r>
              <a:rPr lang="pt-BR" dirty="0" err="1"/>
              <a:t>informacao</a:t>
            </a:r>
            <a:r>
              <a:rPr lang="pt-BR" dirty="0"/>
              <a:t>/</a:t>
            </a:r>
            <a:r>
              <a:rPr lang="pt-BR" dirty="0" err="1"/>
              <a:t>participacao</a:t>
            </a:r>
            <a:r>
              <a:rPr lang="pt-BR" dirty="0"/>
              <a:t>-social/conselhos-e-</a:t>
            </a:r>
            <a:r>
              <a:rPr lang="pt-BR" dirty="0" err="1"/>
              <a:t>orgaos</a:t>
            </a:r>
            <a:r>
              <a:rPr lang="pt-BR" dirty="0"/>
              <a:t>-colegiados/</a:t>
            </a:r>
            <a:r>
              <a:rPr lang="pt-BR" dirty="0" err="1"/>
              <a:t>comissao</a:t>
            </a:r>
            <a:r>
              <a:rPr lang="pt-BR" dirty="0"/>
              <a:t>-tripartite-</a:t>
            </a:r>
            <a:r>
              <a:rPr lang="pt-BR" dirty="0" err="1"/>
              <a:t>partitaria</a:t>
            </a:r>
            <a:r>
              <a:rPr lang="pt-BR" dirty="0"/>
              <a:t>-permanente/normas-regulamentadora/normas-regulamentadoras-vigentes/norma-regulamentadora-no-10-nr-10.&gt; Acesso em: junho 2026.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INSTITUTO SPRINKLER BRASIL. </a:t>
            </a:r>
            <a:r>
              <a:rPr lang="pt-BR" b="1" dirty="0"/>
              <a:t>Estatísticas de incêndios no Brasil.</a:t>
            </a:r>
            <a:r>
              <a:rPr lang="pt-BR" dirty="0"/>
              <a:t> Disponível em: &lt;https://www.sprinklerbrasil.org.br.&gt; Acesso em: junho 2026.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SIEMENS. </a:t>
            </a:r>
            <a:r>
              <a:rPr lang="pt-BR" b="1" dirty="0"/>
              <a:t>Controladores Lógicos Programáveis (CLP).</a:t>
            </a:r>
            <a:r>
              <a:rPr lang="pt-BR" dirty="0"/>
              <a:t> Disponível em: &lt;https://www.siemens.com/</a:t>
            </a:r>
            <a:r>
              <a:rPr lang="pt-BR" dirty="0" err="1"/>
              <a:t>plc</a:t>
            </a:r>
            <a:r>
              <a:rPr lang="pt-BR" dirty="0"/>
              <a:t>.&gt;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: </a:t>
            </a:r>
            <a:r>
              <a:rPr lang="en-US" dirty="0" err="1"/>
              <a:t>junho</a:t>
            </a:r>
            <a:r>
              <a:rPr lang="en-US" dirty="0"/>
              <a:t> 2026. </a:t>
            </a:r>
            <a:endParaRPr lang="pt-BR" dirty="0"/>
          </a:p>
          <a:p>
            <a:r>
              <a:rPr lang="en-US" dirty="0"/>
              <a:t> </a:t>
            </a:r>
            <a:endParaRPr lang="pt-BR" dirty="0"/>
          </a:p>
          <a:p>
            <a:r>
              <a:rPr lang="en-US" dirty="0"/>
              <a:t>WINSEN. </a:t>
            </a:r>
            <a:r>
              <a:rPr lang="en-US" b="1" dirty="0"/>
              <a:t>MQ-2 Semiconductor Sensor for Smoke and Flammable Gas.</a:t>
            </a:r>
            <a:r>
              <a:rPr lang="en-US" dirty="0"/>
              <a:t> </a:t>
            </a:r>
            <a:r>
              <a:rPr lang="pt-BR" dirty="0"/>
              <a:t>Disponível em: &lt;https://www.winsen-sensor.com/</a:t>
            </a:r>
            <a:r>
              <a:rPr lang="pt-BR" dirty="0" err="1"/>
              <a:t>product</a:t>
            </a:r>
            <a:r>
              <a:rPr lang="pt-BR" dirty="0"/>
              <a:t>/mq-2.html.&gt; Acesso em: junho 2026.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109D6CA-E33E-E33D-B37E-C79931C7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F44F244-6F6C-E1B0-0B29-7A669902E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4" y="157745"/>
            <a:ext cx="1759060" cy="72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7028" y="4690866"/>
            <a:ext cx="7849943" cy="1045029"/>
          </a:xfrm>
        </p:spPr>
        <p:txBody>
          <a:bodyPr>
            <a:normAutofit fontScale="90000"/>
          </a:bodyPr>
          <a:lstStyle/>
          <a:p>
            <a:pPr algn="ctr"/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Obrigado(a)</a:t>
            </a:r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376803A-F48C-4636-9402-239C47DAE05F}"/>
              </a:ext>
            </a:extLst>
          </p:cNvPr>
          <p:cNvSpPr txBox="1">
            <a:spLocks/>
          </p:cNvSpPr>
          <p:nvPr/>
        </p:nvSpPr>
        <p:spPr>
          <a:xfrm>
            <a:off x="175845" y="5852479"/>
            <a:ext cx="8792308" cy="2478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Danilo Henrique Muller / Rafael Alexandre Lima Franchini</a:t>
            </a: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D8E51D9-BA9F-4216-AD0B-317722DA9863}"/>
              </a:ext>
            </a:extLst>
          </p:cNvPr>
          <p:cNvSpPr txBox="1">
            <a:spLocks/>
          </p:cNvSpPr>
          <p:nvPr/>
        </p:nvSpPr>
        <p:spPr>
          <a:xfrm>
            <a:off x="746376" y="6121238"/>
            <a:ext cx="8083588" cy="3924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danilomuller10@alunos.fho.edu.br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rafael109179@alunos.fho.edu.br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4" name="Picture 6" descr="Resultado de imagem para email">
            <a:extLst>
              <a:ext uri="{FF2B5EF4-FFF2-40B4-BE49-F238E27FC236}">
                <a16:creationId xmlns:a16="http://schemas.microsoft.com/office/drawing/2014/main" id="{6A2EAE6B-F0F0-4847-B4F3-A8C339AE6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04" y="6275007"/>
            <a:ext cx="188072" cy="2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FEBEC0-AEF5-4548-8402-831CE50F1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4426" y="89877"/>
            <a:ext cx="4351502" cy="92897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504B489-A55B-4459-B738-F243050DA08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16D30BB-40A7-48BA-AE48-DDD9BF0F85D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824" r="6615" b="7870"/>
          <a:stretch/>
        </p:blipFill>
        <p:spPr>
          <a:xfrm>
            <a:off x="6744525" y="89877"/>
            <a:ext cx="2270417" cy="195691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F1A7A99-23B1-EE5E-C03D-6DEC51264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223" y="1952982"/>
            <a:ext cx="6527908" cy="270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850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949</Words>
  <Application>Microsoft Office PowerPoint</Application>
  <PresentationFormat>Apresentação na tela (4:3)</PresentationFormat>
  <Paragraphs>136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Lato</vt:lpstr>
      <vt:lpstr>Poppins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 Obrigado(a)!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2017-09-26T22:31:49Z</dcterms:created>
  <dcterms:modified xsi:type="dcterms:W3CDTF">2026-10-07T01:39:23Z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